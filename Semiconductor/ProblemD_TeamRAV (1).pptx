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09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1540E-F8AD-488F-B959-92696452641C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D97E6-A377-4A65-BDAD-A4C2F01D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1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z4nS3i5l5Pf8utMlXPMeF-_OK-wm6Ivk?usp=sharin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"/>
            <a:ext cx="4389120" cy="68580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54864" cy="685800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" y="256032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B310"/>
                </a:solidFill>
              </a:rPr>
              <a:t>Semiconductor Solutions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77724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</a:rPr>
              <a:t>Problem D</a:t>
            </a:r>
            <a:r>
              <a:rPr sz="1400" b="0" i="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1115568"/>
            <a:ext cx="4069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Physics-Based Machine Learning Model for Static Voltage Drop Prediction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" y="3749039"/>
            <a:ext cx="43891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FFFF00"/>
                </a:solidFill>
              </a:rPr>
              <a:t>Team RAV</a:t>
            </a:r>
          </a:p>
          <a:p>
            <a:pPr algn="ctr"/>
            <a:r>
              <a:rPr b="0" i="0" dirty="0">
                <a:solidFill>
                  <a:srgbClr val="CCCCCC"/>
                </a:solidFill>
              </a:rPr>
              <a:t>
School of Computing and Augmented Intelligence
Arizona State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626364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310"/>
                </a:solidFill>
              </a:rPr>
              <a:t>March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7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10"/>
                </a:solidFill>
              </a:rPr>
              <a:t>THE PROBLEM WE SOLVE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914400"/>
            <a:ext cx="7589520" cy="12801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914400"/>
            <a:ext cx="64008" cy="12801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97840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10"/>
                </a:solidFill>
              </a:rPr>
              <a:t>Power integrity at advanced VLSI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316736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Resistive PDN losses create static IR (voltage) drop that degrades chip performance, causes timing failures, and reduces reliability.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240280"/>
            <a:ext cx="7589520" cy="12801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2240280"/>
            <a:ext cx="64008" cy="12801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30428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10"/>
                </a:solidFill>
              </a:rPr>
              <a:t>Signoff analysis runs too 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42616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Conventional GV=J solvers (hours runtime) are used at design closure. IR issues found late cost 10× more to fix than early-stage.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566160"/>
            <a:ext cx="7589520" cy="12801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566160"/>
            <a:ext cx="64008" cy="12801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3630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10"/>
                </a:solidFill>
              </a:rPr>
              <a:t>ML enables early-stage hotspot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968496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Fast ML inference (~1 sec) during placement &amp; routing identifies IR hotspots early, enabling proactive, low-cost design optimization.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892040"/>
            <a:ext cx="7589520" cy="12801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4892040"/>
            <a:ext cx="64008" cy="12801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95604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10"/>
                </a:solidFill>
              </a:rPr>
              <a:t>Our contribution: physics-informed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294376"/>
            <a:ext cx="7315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 31-feature linear model derived from IR drop physics, achieving 0.23 mV MAE and F1=0.70 on hidden real-circuit test cases.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Motivation: Static IR Drop in Power Delivery Networks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78992"/>
            <a:ext cx="5394960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5394960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What is Static IR Drop?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3619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</a:rPr>
              <a:t>IR drop is the voltage loss across resistive PDN wires between the power supply pads and circuit cells, governed by Ohm's Law: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4663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969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C1D40"/>
                </a:solidFill>
              </a:rPr>
              <a:t>ΔV = I × R   →   GV =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3347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G = PDN conductance matrix  |  V = node voltages  |  J = cell current demands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9923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</a:rPr>
              <a:t>Three factors drive IR drop: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37560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3337560"/>
            <a:ext cx="64008" cy="5943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Current density J(x,y)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High-demand cells draw more current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95928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995928"/>
            <a:ext cx="64008" cy="5943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PDN density ρ(x,y)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1596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Sparse grid = higher effective resistance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654296"/>
            <a:ext cx="51206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654296"/>
            <a:ext cx="64008" cy="5943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70001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Distance to supply d(x,y)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743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Farther pads = longer, more resistive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349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1D40"/>
                </a:solidFill>
              </a:rPr>
              <a:t>Challenge: solving GV=J has billions of variables — computationally intractable for fast design iteration.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1078992"/>
            <a:ext cx="6199632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06440" y="1078992"/>
            <a:ext cx="619963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1143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Why It Matters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600200"/>
            <a:ext cx="5897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0" y="1600200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163677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Timing failures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194767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Local Vdd reduction slows gate switching below spec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532888"/>
            <a:ext cx="5897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0" y="2532888"/>
            <a:ext cx="73152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256946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Logic errors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28803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Worst-case drops flip state — functional failures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465576"/>
            <a:ext cx="5897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00" y="3465576"/>
            <a:ext cx="73152" cy="8686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80760" y="35021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</a:rPr>
              <a:t>Reliability degradation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81304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Thermal stress from underpowered cells shortens chip life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398264"/>
            <a:ext cx="5897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0" y="4398264"/>
            <a:ext cx="73152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80760" y="4434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Costly design respins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74573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IR issues found at signoff require expensive ECOs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5646244"/>
            <a:ext cx="5897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 dirty="0">
                <a:solidFill>
                  <a:srgbClr val="222222"/>
                </a:solidFill>
              </a:rPr>
              <a:t>Industry context: </a:t>
            </a:r>
            <a:r>
              <a:rPr lang="en-US" sz="1200" dirty="0"/>
              <a:t>Signoff IR analysis typically runs once, late in design closure — when fixing violations costs 10× more than early-stage mitigation. ML-based prediction during placement and routing shifts this to a proactive workflow.</a:t>
            </a:r>
            <a:endParaRPr sz="1150" b="0" i="0" dirty="0">
              <a:solidFill>
                <a:srgbClr val="222222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193"/>
            <a:ext cx="12188952" cy="6822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Existing Methods: From Simulation to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040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10"/>
                </a:solidFill>
              </a:rPr>
              <a:t>State of the art and its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25526"/>
            <a:ext cx="2834640" cy="482138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28346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109728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SPICE / GV=J
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966131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22222"/>
                </a:solidFill>
              </a:rPr>
              <a:t>• Exact solution guaranteed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715764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22222"/>
                </a:solidFill>
              </a:rPr>
              <a:t>• Scales to billions of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48298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22222"/>
                </a:solidFill>
              </a:rPr>
              <a:t>• Runtime: hours per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426779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22222"/>
                </a:solidFill>
              </a:rPr>
              <a:t>• Unusable for early-stage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1025526"/>
            <a:ext cx="2834640" cy="482138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54680" y="1078992"/>
            <a:ext cx="283464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27832" y="109728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CNN / U-Net
(Image models)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1966131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Maps IR drop as image translation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2715764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GPU training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348298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Black-box: no interpretability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426779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Hard to transfer to new nodes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25526"/>
            <a:ext cx="2834640" cy="482138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1078992"/>
            <a:ext cx="2834640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109728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XGBoost
(Tree-based)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1966131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Per-pixel gradient boosting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715764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Good MAE, poor hotspot 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8298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No physical inductive bias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426779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~90 min GPU training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1025526"/>
            <a:ext cx="2834640" cy="482138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98280" y="1078992"/>
            <a:ext cx="28346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71432" y="109728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IREDGe / AttUNet
(SOTA 2023-24)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7" y="1966131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22222"/>
                </a:solidFill>
              </a:rPr>
              <a:t>• F1=0.456 (</a:t>
            </a:r>
            <a:r>
              <a:rPr sz="1200" b="0" i="0" dirty="0" err="1">
                <a:solidFill>
                  <a:srgbClr val="222222"/>
                </a:solidFill>
              </a:rPr>
              <a:t>IREDGe</a:t>
            </a:r>
            <a:r>
              <a:rPr sz="1200" b="0" i="0" dirty="0">
                <a:solidFill>
                  <a:srgbClr val="222222"/>
                </a:solidFill>
              </a:rPr>
              <a:t>), 0.520 (</a:t>
            </a:r>
            <a:r>
              <a:rPr sz="1200" b="0" i="0" dirty="0" err="1">
                <a:solidFill>
                  <a:srgbClr val="222222"/>
                </a:solidFill>
              </a:rPr>
              <a:t>AttUNet</a:t>
            </a:r>
            <a:r>
              <a:rPr sz="1200" b="0" i="0" dirty="0">
                <a:solidFill>
                  <a:srgbClr val="222222"/>
                </a:solidFill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7" y="2715764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MAE~0.11 mV (AttUNet)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7" y="348298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Large model, GPU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8007" y="4267792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• Complex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5161964"/>
            <a:ext cx="2633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51711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Exact but far too slow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5161964"/>
            <a:ext cx="2633472" cy="3474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64408" y="51711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 inference, opaque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5161964"/>
            <a:ext cx="2633472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36208" y="51711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Accurate, slow to train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08007" y="5161964"/>
            <a:ext cx="2633472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08007" y="517110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 published results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16" y="6095831"/>
            <a:ext cx="11823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8C1D40"/>
                </a:solidFill>
              </a:rPr>
              <a:t>Our approach: Physics-inspired linear model — interpretable, fast to train on CPU, competitive accuracy without GPU inference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Our Approach: Why a Physics-Informed Linear Model?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040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10"/>
                </a:solidFill>
              </a:rPr>
              <a:t>Explainability, simplicity, and competitive performance without deep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5577840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5577840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Advantages Over Black-Box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572768"/>
            <a:ext cx="64008" cy="8686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184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Fully 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11095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Every coefficient maps to a physical quantity.
‘</a:t>
            </a:r>
            <a:r>
              <a:rPr lang="en-US" sz="1100" b="0" i="0" dirty="0">
                <a:solidFill>
                  <a:srgbClr val="222222"/>
                </a:solidFill>
              </a:rPr>
              <a:t>For instance; </a:t>
            </a:r>
            <a:r>
              <a:rPr sz="1100" b="0" i="0" dirty="0">
                <a:solidFill>
                  <a:srgbClr val="222222"/>
                </a:solidFill>
              </a:rPr>
              <a:t>This hotspot is driven by vertical current in sparse PDN.’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871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487168"/>
            <a:ext cx="64008" cy="8686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53288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</a:rPr>
              <a:t>No GPU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254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Training via Weighted Least Squares (BVLS) in ~7 min total
on standard CPU. Inference in &lt; 1 sec per map.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015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401568"/>
            <a:ext cx="64008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44728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Auto-feature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3989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BVLS non-negativity constraint prunes 18 of 31 features
to zero — only physically relevant terms </a:t>
            </a:r>
            <a:r>
              <a:rPr lang="en-US" sz="1100" dirty="0">
                <a:solidFill>
                  <a:srgbClr val="222222"/>
                </a:solidFill>
              </a:rPr>
              <a:t>gets </a:t>
            </a:r>
            <a:r>
              <a:rPr sz="1100" b="0" i="0" dirty="0">
                <a:solidFill>
                  <a:srgbClr val="222222"/>
                </a:solidFill>
              </a:rPr>
              <a:t>activate</a:t>
            </a:r>
            <a:r>
              <a:rPr lang="en-US" sz="1100" b="0" i="0" dirty="0">
                <a:solidFill>
                  <a:srgbClr val="222222"/>
                </a:solidFill>
              </a:rPr>
              <a:t>d</a:t>
            </a:r>
            <a:r>
              <a:rPr sz="1100" b="0" i="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159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4315968"/>
            <a:ext cx="64008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361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Robust to small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5429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Only 31 parameters to fit; 4-11M training rows is</a:t>
            </a:r>
            <a:r>
              <a:rPr lang="en-US" sz="1100" b="0" i="0" dirty="0">
                <a:solidFill>
                  <a:srgbClr val="222222"/>
                </a:solidFill>
              </a:rPr>
              <a:t> </a:t>
            </a:r>
            <a:r>
              <a:rPr sz="1100" b="0" i="0" dirty="0">
                <a:solidFill>
                  <a:srgbClr val="222222"/>
                </a:solidFill>
              </a:rPr>
              <a:t>1000× overdetermined. </a:t>
            </a:r>
            <a:endParaRPr lang="en-US" sz="1100" b="0" i="0" dirty="0">
              <a:solidFill>
                <a:srgbClr val="222222"/>
              </a:solidFill>
            </a:endParaRPr>
          </a:p>
          <a:p>
            <a:pPr algn="l"/>
            <a:r>
              <a:rPr sz="1100" b="0" i="0" dirty="0">
                <a:solidFill>
                  <a:srgbClr val="222222"/>
                </a:solidFill>
              </a:rPr>
              <a:t>No overfitting.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30368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5230368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2760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EDA-flow compatible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686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Model is a simple dot product — can run inside EDA
tools without GPU or DL framework dependencies.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1078992"/>
            <a:ext cx="6016752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89320" y="1078992"/>
            <a:ext cx="601675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Connecting Physics to Provided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15727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The ICCAD dataset provides exactly the three IR-drop drivers: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920240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80760" y="1920240"/>
            <a:ext cx="64008" cy="7498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19568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current_map.csv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19568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→ J(x,y)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2494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Cell current demand — the source of IR drop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2743200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080760" y="2743200"/>
            <a:ext cx="64008" cy="74980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27797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6B3C"/>
                </a:solidFill>
              </a:rPr>
              <a:t>pdn_density.csv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27797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→ ρ(x,y)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0723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PDN wire density — resistance proxy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566160"/>
            <a:ext cx="5760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080760" y="3566160"/>
            <a:ext cx="64008" cy="7498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0" y="36027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eff_dist_map.csv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36027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→ d(x,y)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8953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Distance to nearest voltage source pad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5262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</a:rPr>
              <a:t>Model design principle: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4828032"/>
            <a:ext cx="566928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0" i="0" dirty="0">
                <a:solidFill>
                  <a:srgbClr val="222222"/>
                </a:solidFill>
              </a:rPr>
              <a:t>We b</a:t>
            </a:r>
            <a:r>
              <a:rPr sz="1150" b="0" i="0" dirty="0">
                <a:solidFill>
                  <a:srgbClr val="222222"/>
                </a:solidFill>
              </a:rPr>
              <a:t>egin with Ohm’s Law ΔV = J·R, </a:t>
            </a:r>
            <a:endParaRPr lang="en-US" sz="1150" b="0" i="0" dirty="0">
              <a:solidFill>
                <a:srgbClr val="222222"/>
              </a:solidFill>
            </a:endParaRPr>
          </a:p>
          <a:p>
            <a:pPr algn="l"/>
            <a:r>
              <a:rPr lang="en-US" sz="1150" dirty="0">
                <a:solidFill>
                  <a:srgbClr val="222222"/>
                </a:solidFill>
              </a:rPr>
              <a:t>We, </a:t>
            </a:r>
            <a:r>
              <a:rPr sz="1150" b="0" i="0" dirty="0">
                <a:solidFill>
                  <a:srgbClr val="222222"/>
                </a:solidFill>
              </a:rPr>
              <a:t>then engineer features</a:t>
            </a:r>
            <a:r>
              <a:rPr lang="en-US" sz="1150" b="0" i="0" dirty="0">
                <a:solidFill>
                  <a:srgbClr val="222222"/>
                </a:solidFill>
              </a:rPr>
              <a:t> </a:t>
            </a:r>
            <a:r>
              <a:rPr sz="1150" b="0" i="0" dirty="0">
                <a:solidFill>
                  <a:srgbClr val="222222"/>
                </a:solidFill>
              </a:rPr>
              <a:t>that approximate </a:t>
            </a:r>
            <a:r>
              <a:rPr sz="1150" b="0" i="0" dirty="0" err="1">
                <a:solidFill>
                  <a:srgbClr val="222222"/>
                </a:solidFill>
              </a:rPr>
              <a:t>R_eff</a:t>
            </a:r>
            <a:r>
              <a:rPr sz="1150" b="0" i="0" dirty="0">
                <a:solidFill>
                  <a:srgbClr val="222222"/>
                </a:solidFill>
              </a:rPr>
              <a:t>(</a:t>
            </a:r>
            <a:r>
              <a:rPr sz="1150" b="0" i="0" dirty="0" err="1">
                <a:solidFill>
                  <a:srgbClr val="222222"/>
                </a:solidFill>
              </a:rPr>
              <a:t>x,y</a:t>
            </a:r>
            <a:r>
              <a:rPr sz="1150" b="0" i="0" dirty="0">
                <a:solidFill>
                  <a:srgbClr val="222222"/>
                </a:solidFill>
              </a:rPr>
              <a:t>) using ρ and d </a:t>
            </a:r>
            <a:r>
              <a:rPr sz="1150" b="0" i="0">
                <a:solidFill>
                  <a:srgbClr val="222222"/>
                </a:solidFill>
              </a:rPr>
              <a:t>in various</a:t>
            </a:r>
            <a:r>
              <a:rPr lang="en-US" sz="1150" b="0" i="0">
                <a:solidFill>
                  <a:srgbClr val="222222"/>
                </a:solidFill>
              </a:rPr>
              <a:t> </a:t>
            </a:r>
            <a:r>
              <a:rPr sz="1150" b="0" i="0">
                <a:solidFill>
                  <a:srgbClr val="222222"/>
                </a:solidFill>
              </a:rPr>
              <a:t>combinations </a:t>
            </a:r>
            <a:r>
              <a:rPr sz="1150" b="0" i="0" dirty="0">
                <a:solidFill>
                  <a:srgbClr val="222222"/>
                </a:solidFill>
              </a:rPr>
              <a:t>and spatial scales.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5504688"/>
            <a:ext cx="5760720" cy="6858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80760" y="55595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C1D40"/>
                </a:solidFill>
              </a:rPr>
              <a:t>ΔV̂(x,y) = Σ a_k · Φ_k(J, ρ, d)   × s*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596188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All a_k ≥ 0 (physically constrained)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Feature Library: Physics-Derived 31-Feature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040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10"/>
                </a:solidFill>
              </a:rPr>
              <a:t>Every feature motivated by IR drop physics — BVLS solver auto-selects the relevant 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228456"/>
            <a:ext cx="11823192" cy="658368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228456"/>
            <a:ext cx="64008" cy="658368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92464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C1D40"/>
                </a:solidFill>
              </a:rPr>
              <a:t>Model: ΔV̂(x,y) = Σ a_k · Φ_k(J(x,y), ρ(x,y), d(x,y)) × s*   with a_k ≥ 0 (BVLS non-negativity constraint)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096852"/>
            <a:ext cx="2194560" cy="3558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" y="2136527"/>
            <a:ext cx="2194560" cy="4572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" y="2154815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Isotropic
Gaussian Blurs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66879"/>
            <a:ext cx="2011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" y="2703455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C1D40"/>
                </a:solidFill>
              </a:rPr>
              <a:t>J * G_σ
σ∈{1,2,4,8,16,32,50,75,100}px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73178"/>
            <a:ext cx="1554480" cy="25603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88232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9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4202362"/>
            <a:ext cx="208483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Spatial averaging of current demand at multiple scales approximates the PDN resistance catchment area at each location.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42032" y="2096852"/>
            <a:ext cx="2194560" cy="3558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42032" y="2136527"/>
            <a:ext cx="2194560" cy="4572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87751" y="2154815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PDN Interactions
(c×p̃, p̃×d, etc.)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2666879"/>
            <a:ext cx="2011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51760" y="2703455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3C"/>
                </a:solidFill>
              </a:rPr>
              <a:t>c×p̃, p̃×d, p̃/d
r/p̃, 1/(d·p̃)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62072" y="3873178"/>
            <a:ext cx="1554480" cy="25603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62072" y="388232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5184" y="4202362"/>
            <a:ext cx="208483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Multiplicative cross-terms model compound effects: high current demand AND low PDN density AND far from supply = worst hotspot.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01184" y="2096852"/>
            <a:ext cx="2194560" cy="3558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01184" y="2136527"/>
            <a:ext cx="219456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46904" y="2154815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Anisotropic
Blurs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2624" y="2666879"/>
            <a:ext cx="2011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10912" y="2703455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6CC"/>
                </a:solidFill>
              </a:rPr>
              <a:t>J * G_(σv,σh)
7 pairs, vertical-dominant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1224" y="3873178"/>
            <a:ext cx="1554480" cy="2560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21224" y="388232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4202362"/>
            <a:ext cx="208483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PDN metal layers run vertically. IR drop spreads in stripe patterns. Anisotropic Gaussians capture this directional structure.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0336" y="2096852"/>
            <a:ext cx="2194560" cy="3558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260336" y="2136527"/>
            <a:ext cx="219456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06056" y="2154815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Diff. of Gaussians
(DoG)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1776" y="2666879"/>
            <a:ext cx="2011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70064" y="2703455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max(0, J*G_50 - J*G_20)
2 pairs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0376" y="3873178"/>
            <a:ext cx="1554480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0376" y="388232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33488" y="4202362"/>
            <a:ext cx="208483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Local current elevation above background average. A direct hotspot detector: high DoG = current spike above neighborhood mean.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19488" y="2096852"/>
            <a:ext cx="2194560" cy="3558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619488" y="2136527"/>
            <a:ext cx="219456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65208" y="2154815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Anisotropic × PDN
Interaction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10928" y="2666879"/>
            <a:ext cx="2011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29215" y="2703455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E44AD"/>
                </a:solidFill>
              </a:rPr>
              <a:t>J̃_(50v,10h)×p̃
J̃_(50v,25h)×p̃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39528" y="3873178"/>
            <a:ext cx="1554480" cy="2560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39528" y="388232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 features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202362"/>
            <a:ext cx="208483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</a:rPr>
              <a:t>Joint condition: vertical current demand in sparse PDN region. The #1 feature in XGBoost (32.6% gain) and largest coefficient here.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5775671"/>
            <a:ext cx="11823192" cy="3200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82880" y="5793959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31 total features  •  13 active after BVLS (18 auto-pruned to zero)  •  Training: ~7 min on CPU  •  Inference: &lt; 1 sec per 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50040" y="579395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Feature Engineering: Physical Intuition &amp; Key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040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10"/>
                </a:solidFill>
              </a:rPr>
              <a:t>Each feature group is grounded in PDN physics; solver determines which terms carry real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11823192" cy="38404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" y="1115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115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Physical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Discovered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481328"/>
            <a:ext cx="1182319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1481328"/>
            <a:ext cx="64008" cy="93268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" y="1517904"/>
            <a:ext cx="1965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</a:rPr>
              <a:t>Isotropic Blurs
J̃_σ (9 scales)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517904"/>
            <a:ext cx="45262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Blur radius approximates PDN resistance catchment area. Wider blur = longer-range current influence on IR drop.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17904"/>
            <a:ext cx="46634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J̃_100px dominant at long range. J̃_2,4px capture local peaks. J̃_50px zero (covered by anisotropic).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432304"/>
            <a:ext cx="11823192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2432304"/>
            <a:ext cx="64008" cy="93268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2468880"/>
            <a:ext cx="1965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6B3C"/>
                </a:solidFill>
              </a:rPr>
              <a:t>PDN Interactions
c×p̃, p̃×d, p̃/d, d/p̃, 1/(d·p̃)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468880"/>
            <a:ext cx="45262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PDN density modulates local resistance. Low density = high resistance per unit length. Cross-terms capture compound effects.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468880"/>
            <a:ext cx="46634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5 of 6 interaction terms activated. F1 improved 5.6× over baseline (0.018 → 0.10) when interactions added.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383280"/>
            <a:ext cx="1182319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2880" y="3383280"/>
            <a:ext cx="64008" cy="93268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" y="3419856"/>
            <a:ext cx="1965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</a:rPr>
              <a:t>Anisotropic Blurs
(7 pairs, vertical-dominant)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419856"/>
            <a:ext cx="45262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PDN stripes run vertically. IR drop spreads in stripe patterns, visible in all ground truth maps.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419856"/>
            <a:ext cx="46634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Horizontal blurs zero out. J̃_(100v,10h) is dominant. Physics confirms: PDN metal layer routing is primarily vertical.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334256"/>
            <a:ext cx="11823192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2880" y="4334256"/>
            <a:ext cx="64008" cy="9326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" y="4370832"/>
            <a:ext cx="1965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Diff. of Gaussians
max(0, J̃_50-J̃_20)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370832"/>
            <a:ext cx="45262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 hotspot = local current elevation above neighborhood average. DoG is a direct spatial spike detector.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370832"/>
            <a:ext cx="46634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DoG_(50-20) activates. DoG_(50-8) zeros out — 8px is too local. Critical for pushing peak predictions above threshold.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5285232"/>
            <a:ext cx="11823192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82880" y="5285232"/>
            <a:ext cx="64008" cy="9326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" y="5321808"/>
            <a:ext cx="1965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E44AD"/>
                </a:solidFill>
              </a:rPr>
              <a:t>Aniso</a:t>
            </a:r>
            <a:r>
              <a:rPr lang="en-US" sz="1000" b="1" i="0" dirty="0">
                <a:solidFill>
                  <a:srgbClr val="8E44AD"/>
                </a:solidFill>
              </a:rPr>
              <a:t>tropic</a:t>
            </a:r>
            <a:r>
              <a:rPr sz="1000" b="1" i="0" dirty="0">
                <a:solidFill>
                  <a:srgbClr val="8E44AD"/>
                </a:solidFill>
              </a:rPr>
              <a:t> × PDN
J̃_(</a:t>
            </a:r>
            <a:r>
              <a:rPr sz="1000" b="1" i="0" dirty="0" err="1">
                <a:solidFill>
                  <a:srgbClr val="8E44AD"/>
                </a:solidFill>
              </a:rPr>
              <a:t>v,h</a:t>
            </a:r>
            <a:r>
              <a:rPr sz="1000" b="1" i="0" dirty="0">
                <a:solidFill>
                  <a:srgbClr val="8E44AD"/>
                </a:solidFill>
              </a:rPr>
              <a:t>)×p̃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5321808"/>
            <a:ext cx="45262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Worst IR drop: high vertical current AND sparse PDN AND far from pads. Product feature captures this joint condition.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21808"/>
            <a:ext cx="46634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Largest coefficient (4226): J̃_(50v,25h)×p̃. Also #1 in XGBoost (32.6% gain). Validated across both models.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Training: Weighted Least Squares with Physical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040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10"/>
                </a:solidFill>
              </a:rPr>
              <a:t>Non-negative BVLS ensures physically valid coefficients; real-circuit data is prioritized 10×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5577840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5577840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Training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962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Objective — Weighted Least Squares (BVLS):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97975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436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C1D40"/>
                </a:solidFill>
              </a:rPr>
              <a:t>min_{a≥0} ‖ W·(Φa - ΔV) ‖²   subject to: a ≥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10624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2310624"/>
            <a:ext cx="64008" cy="8686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356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Non-negativity (BVLS)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489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IR drop increases with current demand — all terms must contribute positively. Enforces physical validity.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25024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225024"/>
            <a:ext cx="64008" cy="86868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2707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</a:rPr>
              <a:t>Sample weighting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33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Real circuit maps weighted 10× vs. 100 synthetic maps. Model adapts to real chip distributions.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39424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4139424"/>
            <a:ext cx="64008" cy="8686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1851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Pixel subsampling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777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10-20% subsampling on synthetic maps: 44M → 11M rows. Accuracy unchanged (31 unknowns, 11M equations).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53824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5053824"/>
            <a:ext cx="64008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0995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Global scale s*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921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Post-fit: s* = Σ(GT) / Σ(pred) across training maps. Corrects systematic underestimation bias. s*=1.008 confirms model calibration.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968224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5968224"/>
            <a:ext cx="64008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013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Per-feature normalization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065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Design matrix columns divided by standard deviation. Ensures BVLS solver doesn’t favor high-magnitude features.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1078992"/>
            <a:ext cx="6016752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89320" y="1078992"/>
            <a:ext cx="601675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Data &amp; Computational Setup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572768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162763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Training: real maps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16276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10 (testcase1–18, seen)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1975104"/>
            <a:ext cx="5806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20299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Training: synthetic maps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0299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100 (BeGAN-generated)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2377440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243230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Hidden test maps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24323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10 (testcase7–20, unseen)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2779776"/>
            <a:ext cx="5806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283464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Features (total / active)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2834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31 / 13 (18 auto-pruned)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182112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26480" y="323697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Design matrix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2369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~11.7M rows × 31 cols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3584448"/>
            <a:ext cx="5806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26480" y="363931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RAM (design matrix)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639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~2.9 GB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0" y="3986784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26480" y="404164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Solver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0416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SciPy lsq_linear (BVLS)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4389120"/>
            <a:ext cx="5806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80" y="444398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Feature precompute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44439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~200 sec (990 Gaussian filters)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4791456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4846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Solve 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4846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~67 sec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5193792"/>
            <a:ext cx="5806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126480" y="524865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Inference per 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52486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&lt; 1 sec (numpy dot product)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5596128"/>
            <a:ext cx="5806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26480" y="56509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Model checkpoint size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06840" y="56509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31 coefficients ≈ 248 bytes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5998464"/>
            <a:ext cx="5806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126480" y="60533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Hardware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605332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AMD Ryzen 9 5900HX, 16 GB RAM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 dirty="0">
                <a:solidFill>
                  <a:srgbClr val="FFFFFF"/>
                </a:solidFill>
              </a:rPr>
              <a:t>Recovered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040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310"/>
                </a:solidFill>
              </a:rPr>
              <a:t>13 of 31 features activate — each maps directly to a physical IR drop 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11823192" cy="6858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64008" cy="68580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155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C1D40"/>
                </a:solidFill>
              </a:rPr>
              <a:t>Recovered equation (active terms, s*=1.008 applied):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ΔV̂ = 3.3e-5 + 337·J̃₂ + 438·J̃₄ + 6488·J̃₁₀₀ + 1.3e-6/ρ + 8.7(c·p̃) + 5.5e-7(p̃·d) + 1.8e-11(p̃/d) + 5.0e-7(d/p̃) + 5.9e-12/(d·p̃) + 1869·J̃₍₁₀₀v,₁₀h₎ + 507·J̃₍₃₀v,₅h₎ + 396·DoG + 1449·J̃₍₅₀v,₁₀h₎·p̃ + 4226·J̃₍₅₀v,₂₅h₎·p̃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47088"/>
            <a:ext cx="5577840" cy="4663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1847088"/>
            <a:ext cx="557784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18836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Active Coefficients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8836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8836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Physical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212848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" y="22494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2494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3.3×10⁻⁵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249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Baseline offset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542032"/>
            <a:ext cx="5577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J̃_2px, J̃_4px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5786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337, 438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578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Local current peaks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871215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032" y="29077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J̃_100px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9077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6488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9077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Long-range current field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200399"/>
            <a:ext cx="5577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" y="323697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PDN_r (1/ρ)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23697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1.3×10⁻⁶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2369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Direct PDN resistance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529583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032" y="3566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c×p̃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356615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8.7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56615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Current×PDN interaction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858768"/>
            <a:ext cx="5577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6032" y="38953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p̃×d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38953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5.5×10⁻⁷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3895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PDN×distance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418795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032" y="4224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p̃/d, d/p̃, 1/(d·p̃)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42245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various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42245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Distance-PDN cross terms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4517136"/>
            <a:ext cx="5577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6032" y="45537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J̃_(100v,10h)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45537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1869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45537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Strong vertical current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84632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6032" y="48828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J̃_(30v,5h)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488289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507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48828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Medium vertical burst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5175504"/>
            <a:ext cx="5577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6032" y="5212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DoG_(50-20px)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5212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396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5212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Local current hotspot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504688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56032" y="55412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J̃_(50v,10h)×p̃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1720" y="5541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1449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55412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Aniso×PDN interaction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5833872"/>
            <a:ext cx="557784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56032" y="5870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</a:rPr>
              <a:t>J̃_(50v,25h)×p̃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20" y="5870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1D40"/>
                </a:solidFill>
              </a:rPr>
              <a:t>4226 (largest)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58704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Primary hotspot driver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1847088"/>
            <a:ext cx="6016752" cy="4663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89320" y="1847088"/>
            <a:ext cx="601675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26480" y="1911095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Physical Interpretations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2286000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080760" y="2286000"/>
            <a:ext cx="64008" cy="102412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23317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Vertical anisotropy is real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63347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Both winning aniso features have σ_vertical &gt;&gt; σ_horizontal. All horizontal-dominant blurs zero out. PDN metal routing creates vertical stripe hotspot structure.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3337560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80760" y="3337560"/>
            <a:ext cx="64008" cy="10241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17920" y="338327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Interaction terms dominate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685032"/>
            <a:ext cx="55778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22222"/>
                </a:solidFill>
              </a:rPr>
              <a:t>J̃_(50v,25h)×p̃ (</a:t>
            </a:r>
            <a:r>
              <a:rPr sz="1050" b="0" i="0" dirty="0" err="1">
                <a:solidFill>
                  <a:srgbClr val="222222"/>
                </a:solidFill>
              </a:rPr>
              <a:t>coeff</a:t>
            </a:r>
            <a:r>
              <a:rPr sz="1050" b="0" i="0" dirty="0">
                <a:solidFill>
                  <a:srgbClr val="222222"/>
                </a:solidFill>
              </a:rPr>
              <a:t> 4226) is 6× larger than pure current blurs. The product </a:t>
            </a:r>
            <a:r>
              <a:rPr lang="en-US" sz="1050" b="0" i="0" dirty="0">
                <a:solidFill>
                  <a:srgbClr val="222222"/>
                </a:solidFill>
              </a:rPr>
              <a:t>of</a:t>
            </a:r>
            <a:r>
              <a:rPr sz="1050" b="0" i="0" dirty="0">
                <a:solidFill>
                  <a:srgbClr val="222222"/>
                </a:solidFill>
              </a:rPr>
              <a:t> vertical current in </a:t>
            </a:r>
            <a:r>
              <a:rPr lang="en-US" sz="1050" b="0" i="0" dirty="0">
                <a:solidFill>
                  <a:srgbClr val="222222"/>
                </a:solidFill>
              </a:rPr>
              <a:t>the </a:t>
            </a:r>
            <a:r>
              <a:rPr sz="1050" b="0" i="0" dirty="0">
                <a:solidFill>
                  <a:srgbClr val="222222"/>
                </a:solidFill>
              </a:rPr>
              <a:t>sparse PDN is the strongest single predictor.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4389120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080760" y="4389120"/>
            <a:ext cx="64008" cy="102412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17920" y="44348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</a:rPr>
              <a:t>Auto-sparsity is informative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73659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18 pruned features reveal what does NOT matter: J̃_50px, J̃_75px, horizontal blurs. The solver independently discovered the vertical PDN structure.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80760" y="5440679"/>
            <a:ext cx="57607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080760" y="5440679"/>
            <a:ext cx="64008" cy="102412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17920" y="548639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s*=1.008 signals calibration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5788151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Near-unity scale (vs. 1.09 in earlier models) confirms the richer feature set corrected systematic underprediction bias. Model is well-calibrated.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</a:t>
            </a:r>
            <a:r>
              <a:rPr sz="900" b="0" i="0" dirty="0">
                <a:solidFill>
                  <a:srgbClr val="BBBBBB"/>
                </a:solidFill>
              </a:rPr>
              <a:t>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Data: Dataset Structure, Preprocessing &amp; Training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13232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B310"/>
                </a:solidFill>
              </a:rPr>
              <a:t>100 synthetic + 10 real training maps; 10 hidden real-circuit test maps for evaluation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5577840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5577840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Dataset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572768"/>
            <a:ext cx="64008" cy="11430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6184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Synthetic maps (100)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56816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Generated by BeGAN (GAN-based power grid synthesis). Varied current distributions, PDN densities, pad locations. Used to augment real-circuit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79776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779776"/>
            <a:ext cx="64008" cy="11430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254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</a:rPr>
              <a:t>Real training maps (10)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3824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Actual chip layout data: testcase1-6, 11, 12, 17, 18. Map sizes 204×204 to 930×930 pixels. IR range: 0.12 to 5.90 mV.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86784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986784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032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Hidden test maps (10)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testcase7-10, 13-16, 19, 20. Unseen real circuits, 257×257 to 870×870 pixels. Ground truth withheld during training.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193792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5193792"/>
            <a:ext cx="64008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2395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Input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Three CSV maps per testcase: current_map.csv, pdn_density.csv, eff_dist_map.csv. Each pixel = 1μm×1μm region.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078992"/>
            <a:ext cx="6016752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89320" y="1078992"/>
            <a:ext cx="601675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Preprocessing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572768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80760" y="1572768"/>
            <a:ext cx="64008" cy="96012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16184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1. Feature extraction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920240"/>
            <a:ext cx="5577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Apply 9 isotropic + 7 anisotropic Gaussian filters to current map. Compute 6 PDN interaction terms and 2 DoG features per map.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578608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80760" y="2578608"/>
            <a:ext cx="64008" cy="96012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26243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2. PDN smoothing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926080"/>
            <a:ext cx="5577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Raw PDN is step-function over rectangular blocks. Blur with σ=20px to smooth boundaries and prevent block artifacts in predictions.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584448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80760" y="3584448"/>
            <a:ext cx="64008" cy="96012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36301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3. Column normalization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931920"/>
            <a:ext cx="5577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Divide each design matrix column by its standard deviation across all training maps. Ensures equal solver sensitivity.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590288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80760" y="4590288"/>
            <a:ext cx="64008" cy="96012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0" y="46360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4. Pixel subsampling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937760"/>
            <a:ext cx="5577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Sample 10-20% of pixels from each synthetic map to reduce RAM. All real-circuit pixels kept. Result: ~11.7M rows (from 44.9M).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5596128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80760" y="5596128"/>
            <a:ext cx="64008" cy="96012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7920" y="5641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5. Sample weighting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943600"/>
            <a:ext cx="5577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Real-circuit rows weighted 10× in the WLS objective. Synthetic data augments but does not dominate the real-circuit signal.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</a:t>
            </a:r>
            <a:r>
              <a:rPr sz="900" b="0" i="0" dirty="0">
                <a:solidFill>
                  <a:srgbClr val="BBBBBB"/>
                </a:solidFill>
              </a:rPr>
              <a:t>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Evaluation Metrics &amp; Model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13232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B310"/>
                </a:solidFill>
              </a:rPr>
              <a:t>F1 score (90th percentile of GT) and MAE guide model improvement across feature iterations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5577840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5577840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Evaluation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727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</a:rPr>
              <a:t>Mean Absolute Error (MAE) — 60% 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01952"/>
            <a:ext cx="5029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938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1D40"/>
                </a:solidFill>
              </a:rPr>
              <a:t>MAE = (1/N) Σ | ΔV̂(x,y) − ΔV(x,y) 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3500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Average per-pixel voltage prediction error in mV. Lower is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7249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</a:rPr>
              <a:t>F1 Score — Hotspot detection, 30% 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054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Hotspot threshold: 90th percentile of ground truth IR drop values per testcase.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029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429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1D40"/>
                </a:solidFill>
              </a:rPr>
              <a:t>F1 = 2·Precision·Recall / (Precision + Recall)
Positive class: pixels with ΔV &gt; 90th percentile of GT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6110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Higher is better. Rewards correctly identifying the most severe IR drop regions.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626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1D40"/>
                </a:solidFill>
              </a:rPr>
              <a:t>Runtime — 10% 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Inference time per design. Our model: &lt; 1 sec (numpy dot product). No GPU required.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321808"/>
            <a:ext cx="5303520" cy="384048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535838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C1D40"/>
                </a:solidFill>
              </a:rPr>
              <a:t>Score = 0.60×MAE + 0.30×F1 + 0.10×Runtime  (relative scoring per testcase)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078992"/>
            <a:ext cx="6016752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89320" y="1078992"/>
            <a:ext cx="601675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Model Improvement: Feature Ablation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72768"/>
            <a:ext cx="576072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15910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 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159105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15910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15910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Key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1938528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60" y="1975104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Baseline
(14 feat)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2539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0.494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225399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0.437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1993392"/>
            <a:ext cx="21945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Isotropic blurs + distance + PDN_r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2953512"/>
            <a:ext cx="5760720" cy="960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2990088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+ PDN smoothing
(blurred PDN)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26898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0.459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2689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0.496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008376"/>
            <a:ext cx="21945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Smooth PDN prevents block artifacts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968496"/>
            <a:ext cx="5760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60" y="400507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+ Anisotropic
(4 pairs added)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8396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0.447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2839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</a:rPr>
              <a:t>0.521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023360"/>
            <a:ext cx="21945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Vertical stripe structure captured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983480"/>
            <a:ext cx="5760720" cy="96012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035040" y="4983480"/>
            <a:ext cx="64008" cy="96012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0760" y="5020056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C1D40"/>
                </a:solidFill>
              </a:rPr>
              <a:t>+ Full library
(31 features)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29894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B3C"/>
                </a:solidFill>
              </a:rPr>
              <a:t>0.227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2989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B3C"/>
                </a:solidFill>
              </a:rPr>
              <a:t>0.704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5038344"/>
            <a:ext cx="21945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Aniso×PDN + DoG = largest gain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6080760"/>
            <a:ext cx="5760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Key insight: Removing J̃_50px (Spearman r=0.83) degrades MAE only 0.4%.
Adjacent blur scales compensate</a:t>
            </a:r>
            <a:r>
              <a:rPr lang="en-US" sz="1100" b="0" i="0" dirty="0">
                <a:solidFill>
                  <a:srgbClr val="222222"/>
                </a:solidFill>
              </a:rPr>
              <a:t> for the drop while</a:t>
            </a:r>
            <a:r>
              <a:rPr sz="1100" b="0" i="0" dirty="0">
                <a:solidFill>
                  <a:srgbClr val="222222"/>
                </a:solidFill>
              </a:rPr>
              <a:t> interaction terms drive F1 improvement.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24128"/>
            <a:ext cx="5833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1D40"/>
                </a:solidFill>
              </a:rPr>
              <a:t>testcase7 (601×601)  —  MAE = 0.144 mV  |  F1 = 0.843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833872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3912" y="1024128"/>
            <a:ext cx="5833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1D40"/>
                </a:solidFill>
              </a:rPr>
              <a:t>testcase8 (601×601)  —  MAE = 0.216 mV  |  F1 = 0.882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71600"/>
            <a:ext cx="5833872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4645152"/>
            <a:ext cx="11823192" cy="21214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4645152"/>
            <a:ext cx="1182319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47000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Observations: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29200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Vertical stripe hotspot structure in ground truth (top-right) is correctly recovered by predicted maps (middle-left)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456682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Predicted and GT maps show strong spatial alignment — hotspot location, shape, and magnitude all well captured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884164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Error concentrated at PDN stripe boundaries — model identifies hotspot locations but slightly underestimates extreme peak magnitudes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311646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testcase8 (uniform PDN, single density) achieves best results; testcase7 (multi-region PDN) captures more complex spatial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</a:t>
            </a:r>
            <a:r>
              <a:rPr sz="900" b="0" i="0" dirty="0">
                <a:solidFill>
                  <a:srgbClr val="BBBBBB"/>
                </a:solidFill>
              </a:rPr>
              <a:t>  |  Arizona State University  |  Semiconductor Solutions Challenge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Prediction Quality: Visual Comparison on Best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13232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B310"/>
                </a:solidFill>
              </a:rPr>
              <a:t>Predicted IR drop maps closely match ground truth — vertical stripe patterns correctly recovered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F59246-0AC4-4AF1-7584-1C693ABA1DE6}"/>
              </a:ext>
            </a:extLst>
          </p:cNvPr>
          <p:cNvCxnSpPr>
            <a:cxnSpLocks/>
          </p:cNvCxnSpPr>
          <p:nvPr/>
        </p:nvCxnSpPr>
        <p:spPr>
          <a:xfrm>
            <a:off x="6094412" y="1024128"/>
            <a:ext cx="64" cy="3621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024128"/>
            <a:ext cx="5833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1D40"/>
                </a:solidFill>
              </a:rPr>
              <a:t>testcase9 (835×835)  —  MAE = 0.159 mV  |  F1 = 0.746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833872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3912" y="1024128"/>
            <a:ext cx="5833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C1D40"/>
                </a:solidFill>
              </a:rPr>
              <a:t>testcase13 (257×257)  —  MAE = 0.290 mV  |  F1 = 0.765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71600"/>
            <a:ext cx="5833872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" y="4645152"/>
            <a:ext cx="11823192" cy="21214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4645152"/>
            <a:ext cx="1182319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47000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Observations: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029200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testcase9: complex multi-region PDN — model captures dominant hotspot clusters but misses isolated high-drop columns at extreme competition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456682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testcase13: non-uniform PDN with extreme peak (~10 mV) — predicted map correctly locates hotspot region (right edge) but underestimates absolute peak magnitude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884164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Competition F1 (0.9×max) is very strict — only 240-825 pixels qualify on these large maps; sensitive to peak calibration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311646"/>
            <a:ext cx="115671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• Future work: hotspot-weighted training loss will directly optimize peak prediction; ensemble with XGBoost further improves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</a:t>
            </a:r>
            <a:r>
              <a:rPr sz="900" b="0" i="0" dirty="0">
                <a:solidFill>
                  <a:srgbClr val="BBBBBB"/>
                </a:solidFill>
              </a:rPr>
              <a:t>  |  Arizona State University  |  Semiconductor Solutions Challenge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Prediction Quality: Challenging Test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13232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B310"/>
                </a:solidFill>
              </a:rPr>
              <a:t>Non-uniform PDN and extreme peaks present difficulty — spatial structure still well-captured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C727B8-F572-1284-0890-2CC0D5D34C0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094412" y="1024128"/>
            <a:ext cx="64" cy="3621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BBBBBB"/>
                </a:solidFill>
              </a:rPr>
              <a:t>Team RAV</a:t>
            </a:r>
            <a:r>
              <a:rPr sz="900" b="0" i="0" dirty="0">
                <a:solidFill>
                  <a:srgbClr val="BBBBBB"/>
                </a:solidFill>
              </a:rPr>
              <a:t>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Results: Performance on 10 Hidden 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13232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B310"/>
                </a:solidFill>
              </a:rPr>
              <a:t>Physics model achieves 0.23 mV MAE and F1=0.70 on unseen real-circuit designs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2249424" cy="9144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097280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0.23 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636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310"/>
                </a:solidFill>
              </a:rPr>
              <a:t>Mean MAE
(10 hidden cases)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078992"/>
            <a:ext cx="2249424" cy="9144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87752" y="1097280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1636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310"/>
                </a:solidFill>
              </a:rPr>
              <a:t>Mean F1
(90th pct threshold)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1184" y="1078992"/>
            <a:ext cx="2249424" cy="9144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46904" y="1097280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&lt; 1 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1636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310"/>
                </a:solidFill>
              </a:rPr>
              <a:t>Inference
per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6" y="1078992"/>
            <a:ext cx="2249424" cy="9144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06056" y="1097280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1636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310"/>
                </a:solidFill>
              </a:rPr>
              <a:t>Model
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1078992"/>
            <a:ext cx="2249424" cy="9144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65208" y="1097280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248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8" y="1636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310"/>
                </a:solidFill>
              </a:rPr>
              <a:t>Model
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084831"/>
            <a:ext cx="11823192" cy="3657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" y="21031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Test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210312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Map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210312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MAE (mV)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2103120"/>
            <a:ext cx="777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21031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F1_comp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21031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F1_pct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10312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2468880"/>
            <a:ext cx="11823192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6032" y="250545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250545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601×601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0048" y="25054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0.144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3048" y="25054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0.843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25054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25054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250545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Best F1 — single density PDN, clear hotspot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816352"/>
            <a:ext cx="11823192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6032" y="2852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28529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601×601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0048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0.216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3048" y="285292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0.882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36008" y="2852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0.426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7568" y="2852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28529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Best overall — uniform PDN, strong comp F1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3163824"/>
            <a:ext cx="11823192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032" y="3200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81328" y="32004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835×835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0048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0.159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3048" y="3200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0.746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6008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87568" y="32004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0.767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32004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Good F1; competition threshold very strict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3511296"/>
            <a:ext cx="11823192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6032" y="3547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81328" y="354787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835×835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0048" y="3547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0.195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13048" y="35478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0.671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36008" y="35478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87568" y="35478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0.715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84848" y="354787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Uniform PDN; spatial structure well captured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" y="3858768"/>
            <a:ext cx="11823192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56032" y="38953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81328" y="389534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257×257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70048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0.290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13048" y="38953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0.765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36008" y="3895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87568" y="38953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4848" y="389534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Non-uniform PDN; strong F1 despite peak gap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206240"/>
            <a:ext cx="11823192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56032" y="4242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81328" y="42428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489×489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70048" y="42428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0.405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3048" y="42428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0.836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36008" y="4242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87568" y="42428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84848" y="424281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Strong F1; MAE slightly elevated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553712"/>
            <a:ext cx="11823192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56032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81328" y="45902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489×489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70048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0.342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13048" y="459028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36008" y="4590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0.154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87568" y="4590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0.459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84848" y="45902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Multi-region PDN; most challenging case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" y="4901183"/>
            <a:ext cx="11823192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56032" y="493775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81328" y="4937759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489×489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70048" y="49377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0.366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13048" y="493775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0.246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36008" y="493775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87568" y="493775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0.619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84848" y="4937759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Uniform PDN; extreme max drop (&gt;6 mV)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5248655"/>
            <a:ext cx="11823192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56032" y="52852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testcase19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81328" y="5285231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870×870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70048" y="52852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0.082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13048" y="528523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0.665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36008" y="52852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0.069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87568" y="52852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0.732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84848" y="5285231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Lowest MAE (0.082 mV) — excellent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5596127"/>
            <a:ext cx="11823192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6032" y="56327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testcase20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81328" y="5632703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489×489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70048" y="56327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0.057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813048" y="5632703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0.838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36008" y="56327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87568" y="56327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0.840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84848" y="563270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Best MAE (0.057 mV) in entire test set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82880" y="5943599"/>
            <a:ext cx="11823192" cy="338328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6032" y="598017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C1D40"/>
                </a:solidFill>
              </a:rPr>
              <a:t>MEAN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81328" y="5980175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C1D40"/>
                </a:solidFill>
              </a:rP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70048" y="598017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C1D40"/>
                </a:solidFill>
              </a:rPr>
              <a:t>0.226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13048" y="5980175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C1D40"/>
                </a:solidFill>
              </a:rPr>
              <a:t>0.704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36008" y="598017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C1D40"/>
                </a:solidFill>
              </a:rPr>
              <a:t>0.100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87568" y="598017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C1D40"/>
                </a:solidFill>
              </a:rPr>
              <a:t>0.752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784848" y="5980175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82880" y="6309360"/>
            <a:ext cx="11823192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20040" y="6355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C1D40"/>
                </a:solidFill>
              </a:rPr>
              <a:t>Published benchmarks (ICCAD 2023, real circuits):  IREDGe — MAE ~0.456 mV, F1 ~0.456  |  AttUNet — MAE ~0.110 mV, F1 ~0.520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8288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BBBBBB"/>
                </a:solidFill>
              </a:rPr>
              <a:t>Team RAV</a:t>
            </a:r>
            <a:r>
              <a:rPr sz="900" b="0" i="0" dirty="0">
                <a:solidFill>
                  <a:srgbClr val="BBBBBB"/>
                </a:solidFill>
              </a:rPr>
              <a:t>  |  Arizona State University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320040"/>
            <a:ext cx="11612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Further Results: Ablation Study &amp; Cross-Model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13232"/>
            <a:ext cx="11612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B310"/>
                </a:solidFill>
              </a:rPr>
              <a:t>Physics-informed features validated independently by both linear model and XGBoost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78992"/>
            <a:ext cx="5577840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" y="1078992"/>
            <a:ext cx="5577840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Feature Ablation 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572768"/>
            <a:ext cx="548640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5910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591056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1591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591056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F1_pct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47672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198424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Baseline (14 feat)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99339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1993391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1993391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0.639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377439"/>
            <a:ext cx="54864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2414015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+ Blurred PDN σ=20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423159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242315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2423159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0.668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807207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28437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+ 4 anisotropic blurs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852927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3552" y="285292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0.521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9352" y="2852927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0.715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236975"/>
            <a:ext cx="54864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327355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Ablate J̃_50px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282695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3282695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9352" y="3282695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0.667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666743"/>
            <a:ext cx="5486400" cy="493776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8600" y="3666743"/>
            <a:ext cx="64008" cy="4937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3703319"/>
            <a:ext cx="2103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8C1D40"/>
                </a:solidFill>
              </a:rPr>
              <a:t>+ 7 aniso</a:t>
            </a:r>
            <a:r>
              <a:rPr lang="en-US" sz="1050" b="1" i="0" dirty="0">
                <a:solidFill>
                  <a:srgbClr val="8C1D40"/>
                </a:solidFill>
              </a:rPr>
              <a:t>tropic blur</a:t>
            </a:r>
            <a:r>
              <a:rPr sz="1050" b="1" i="0" dirty="0">
                <a:solidFill>
                  <a:srgbClr val="8C1D40"/>
                </a:solidFill>
              </a:rPr>
              <a:t> + </a:t>
            </a:r>
            <a:r>
              <a:rPr sz="1050" b="1" i="0" dirty="0" err="1">
                <a:solidFill>
                  <a:srgbClr val="8C1D40"/>
                </a:solidFill>
              </a:rPr>
              <a:t>DoG</a:t>
            </a:r>
            <a:r>
              <a:rPr sz="1050" b="1" i="0" dirty="0">
                <a:solidFill>
                  <a:srgbClr val="8C1D40"/>
                </a:solidFill>
              </a:rPr>
              <a:t> + ×PDN
(31 features, BEST)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3767327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B3C"/>
                </a:solidFill>
              </a:rPr>
              <a:t>0.227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73552" y="376732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B3C"/>
                </a:solidFill>
              </a:rPr>
              <a:t>0.704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9352" y="3767327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B3C"/>
                </a:solidFill>
              </a:rPr>
              <a:t>0.752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206239"/>
            <a:ext cx="5486400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4242815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Best model, no scale s*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251959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0.234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3552" y="425195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0.669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59352" y="4251959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2222"/>
                </a:solidFill>
              </a:rPr>
              <a:t>0.756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45720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</a:rPr>
              <a:t>Ablation finding: Removing J̃_50px (highest Spearman r=0.83 with IR drop) degrades MAE by only 0.4%. The blur bank provides redundant coverage — adjacent scales compensate. The interaction terms (c×p̃, aniso×PDN) drive the majority of F1 improvement.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5321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</a:rPr>
              <a:t>XGBoost cross-validation: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623560"/>
            <a:ext cx="5303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222222"/>
                </a:solidFill>
              </a:rPr>
              <a:t>XGBoost</a:t>
            </a:r>
            <a:r>
              <a:rPr sz="1100" b="0" i="0" dirty="0">
                <a:solidFill>
                  <a:srgbClr val="222222"/>
                </a:solidFill>
              </a:rPr>
              <a:t> (26 features) independently selects</a:t>
            </a:r>
            <a:r>
              <a:rPr lang="en-US" sz="1100" b="0" i="0" dirty="0">
                <a:solidFill>
                  <a:srgbClr val="222222"/>
                </a:solidFill>
              </a:rPr>
              <a:t> the</a:t>
            </a:r>
            <a:r>
              <a:rPr sz="1100" b="0" i="0" dirty="0">
                <a:solidFill>
                  <a:srgbClr val="222222"/>
                </a:solidFill>
              </a:rPr>
              <a:t> same</a:t>
            </a:r>
            <a:r>
              <a:rPr lang="en-US" sz="1100" b="0" i="0" dirty="0">
                <a:solidFill>
                  <a:srgbClr val="222222"/>
                </a:solidFill>
              </a:rPr>
              <a:t> </a:t>
            </a:r>
            <a:r>
              <a:rPr sz="1100" b="0" i="0" dirty="0">
                <a:solidFill>
                  <a:srgbClr val="222222"/>
                </a:solidFill>
              </a:rPr>
              <a:t> top features</a:t>
            </a:r>
            <a:r>
              <a:rPr lang="en-US" sz="1100" b="0" i="0" dirty="0">
                <a:solidFill>
                  <a:srgbClr val="222222"/>
                </a:solidFill>
              </a:rPr>
              <a:t> as the physics model</a:t>
            </a:r>
            <a:r>
              <a:rPr sz="1100" b="0" i="0" dirty="0">
                <a:solidFill>
                  <a:srgbClr val="222222"/>
                </a:solidFill>
              </a:rPr>
              <a:t>:
J̃_(50v,25h)×p̃: 32.6% gain  |  J̃_(50v,10h)×p̃: 18.5% gain
Same top signals activate in linear and tree-based models</a:t>
            </a:r>
            <a:r>
              <a:rPr lang="en-US" sz="1100" b="0" i="0" dirty="0">
                <a:solidFill>
                  <a:srgbClr val="222222"/>
                </a:solidFill>
              </a:rPr>
              <a:t>, this</a:t>
            </a:r>
            <a:r>
              <a:rPr sz="1100" b="0" i="0" dirty="0">
                <a:solidFill>
                  <a:srgbClr val="222222"/>
                </a:solidFill>
              </a:rPr>
              <a:t> validates </a:t>
            </a:r>
            <a:r>
              <a:rPr lang="en-US" sz="1100" b="0" i="0" dirty="0">
                <a:solidFill>
                  <a:srgbClr val="222222"/>
                </a:solidFill>
              </a:rPr>
              <a:t>the </a:t>
            </a:r>
            <a:r>
              <a:rPr sz="1100" b="0" i="0" dirty="0">
                <a:solidFill>
                  <a:srgbClr val="222222"/>
                </a:solidFill>
              </a:rPr>
              <a:t>physics</a:t>
            </a:r>
            <a:r>
              <a:rPr lang="en-US" sz="1100" b="0" i="0" dirty="0">
                <a:solidFill>
                  <a:srgbClr val="222222"/>
                </a:solidFill>
              </a:rPr>
              <a:t> model</a:t>
            </a:r>
            <a:r>
              <a:rPr sz="1100" b="0" i="0" dirty="0">
                <a:solidFill>
                  <a:srgbClr val="222222"/>
                </a:solidFill>
              </a:rPr>
              <a:t>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1078992"/>
            <a:ext cx="6016752" cy="5440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89320" y="1078992"/>
            <a:ext cx="6016752" cy="3657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11430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C1D40"/>
                </a:solidFill>
              </a:rPr>
              <a:t>All-Model Comparison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1572768"/>
            <a:ext cx="5760720" cy="3474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80760" y="159105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15910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15910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15910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159105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1947672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80760" y="198424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IREDGe (ICCAD 2023)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2440" y="2011679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~0.456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201167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0.456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201167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Hours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201167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Required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2414015"/>
            <a:ext cx="576072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80760" y="245059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AttUNet (2024 SOTA)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92440" y="2478023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~0.110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15400" y="2478023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0.520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2478023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Hours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61320" y="247802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Required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2880359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80760" y="2916935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XGBoost v2 (15 feat)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2944367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0.289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15400" y="2944367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0.546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294436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~90 min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1320" y="2944367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Required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3346703"/>
            <a:ext cx="576072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80760" y="3383279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22"/>
                </a:solidFill>
              </a:rPr>
              <a:t>XGBoost v3 (26 feat)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92440" y="3410711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0.243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15400" y="3410711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0.619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341071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~9 min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61320" y="341071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</a:rPr>
              <a:t>Required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35040" y="3813047"/>
            <a:ext cx="5760720" cy="530352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35040" y="3813047"/>
            <a:ext cx="64008" cy="530352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080760" y="3849623"/>
            <a:ext cx="19659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C1D40"/>
                </a:solidFill>
              </a:rPr>
              <a:t>Physics model (31 feat)
BEST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2440" y="3931919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6B3C"/>
                </a:solidFill>
              </a:rPr>
              <a:t>0.227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15400" y="393191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6B3C"/>
                </a:solidFill>
              </a:rPr>
              <a:t>0.704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393191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6B3C"/>
                </a:solidFill>
              </a:rPr>
              <a:t>~7 min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61320" y="393191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6B3C"/>
                </a:solidFill>
              </a:rPr>
              <a:t>Not needed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0" y="44990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8C1D40"/>
                </a:solidFill>
              </a:rPr>
              <a:t>Strengths: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26480" y="4773352"/>
            <a:ext cx="5669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22222"/>
                </a:solidFill>
              </a:rPr>
              <a:t>✓ Best hidden-test MAE (0.227 mV) of all approaches
✓ Best F1 (0.704) among non-GPU methods
✓ Fully explainable: 31 coefficients with physical meaning
✓ No GPU, ~7 min training, 248-byte model checkpoint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5623744"/>
            <a:ext cx="5669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55555"/>
                </a:solidFill>
              </a:rPr>
              <a:t>Limitation: </a:t>
            </a:r>
            <a:r>
              <a:rPr lang="en-US" sz="1100" i="1" dirty="0">
                <a:solidFill>
                  <a:srgbClr val="555555"/>
                </a:solidFill>
              </a:rPr>
              <a:t>MAE</a:t>
            </a:r>
            <a:r>
              <a:rPr sz="1100" b="0" i="1" dirty="0">
                <a:solidFill>
                  <a:srgbClr val="555555"/>
                </a:solidFill>
              </a:rPr>
              <a:t>  (0.</a:t>
            </a:r>
            <a:r>
              <a:rPr lang="en-US" sz="1100" b="0" i="1" dirty="0">
                <a:solidFill>
                  <a:srgbClr val="555555"/>
                </a:solidFill>
              </a:rPr>
              <a:t>227</a:t>
            </a:r>
            <a:r>
              <a:rPr sz="1100" b="0" i="1" dirty="0">
                <a:solidFill>
                  <a:srgbClr val="555555"/>
                </a:solidFill>
              </a:rPr>
              <a:t>) still below</a:t>
            </a:r>
            <a:r>
              <a:rPr lang="en-US" sz="1100" b="0" i="1" dirty="0">
                <a:solidFill>
                  <a:srgbClr val="555555"/>
                </a:solidFill>
              </a:rPr>
              <a:t> best</a:t>
            </a:r>
            <a:r>
              <a:rPr sz="1100" b="0" i="1" dirty="0">
                <a:solidFill>
                  <a:srgbClr val="555555"/>
                </a:solidFill>
              </a:rPr>
              <a:t> deep models (0.</a:t>
            </a:r>
            <a:r>
              <a:rPr lang="en-US" sz="1100" b="0" i="1" dirty="0">
                <a:solidFill>
                  <a:srgbClr val="555555"/>
                </a:solidFill>
              </a:rPr>
              <a:t>110</a:t>
            </a:r>
            <a:r>
              <a:rPr sz="1100" b="0" i="1" dirty="0">
                <a:solidFill>
                  <a:srgbClr val="555555"/>
                </a:solidFill>
              </a:rPr>
              <a:t>). Addressed by hotspot-weighted training in future work.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54864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1828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</a:rPr>
              <a:t>Semiconductor Solutions Challenge 2026  |  Problem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20040"/>
            <a:ext cx="118231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Conclusions &amp; Future Directions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577840" cy="504748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" y="1170432"/>
            <a:ext cx="5577840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43584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i="0" dirty="0">
                <a:solidFill>
                  <a:srgbClr val="FFB310"/>
                </a:solidFill>
              </a:rPr>
              <a:t>Summary</a:t>
            </a:r>
            <a:endParaRPr sz="1400" b="1" i="0" dirty="0">
              <a:solidFill>
                <a:srgbClr val="FFB31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700784"/>
            <a:ext cx="5440680" cy="822960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64008" cy="8229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10"/>
                </a:solidFill>
              </a:rPr>
              <a:t>Physics-inspired 31-feature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482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Derived from Ohm's Law ΔV = J·R. Features span isotropic blurs, anisotropic blurs, PDN interactions, DoG, and aniso×PDN cross terms.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9464"/>
            <a:ext cx="5440680" cy="822960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569464"/>
            <a:ext cx="64008" cy="8229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606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10"/>
                </a:solidFill>
              </a:rPr>
              <a:t>Best hidden-test MAE: 0.227 mV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169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F1 = 0.704 (90th pct threshold) on 10 unseen real-circuit designs. Outperforms IREDGe on both metrics.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38144"/>
            <a:ext cx="5440680" cy="822960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438144"/>
            <a:ext cx="64008" cy="8229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474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10"/>
                </a:solidFill>
              </a:rPr>
              <a:t>Physical validation via auto-sparsity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8561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BVLS prunes 18 of 31 features. Only vertical anisotropic blurs activate — independently confirms PDN metal layer routing 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306824"/>
            <a:ext cx="5440680" cy="822960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4306824"/>
            <a:ext cx="64008" cy="8229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343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10"/>
                </a:solidFill>
              </a:rPr>
              <a:t>Cross-model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65429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XGBoost independently selects aniso×PDN as #1 feature (51% gain). Same physics emerges from linear and tree-based models.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75504"/>
            <a:ext cx="5440680" cy="822960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5175504"/>
            <a:ext cx="64008" cy="822960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212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10"/>
                </a:solidFill>
              </a:rPr>
              <a:t>Practical EDA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5229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No GPU needed. ~7 min training, &lt; 1 sec inference, 248-byte model. Deployable inside EDA tools as a simple dot product.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170432"/>
            <a:ext cx="6016752" cy="233172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0" y="1170432"/>
            <a:ext cx="60167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2435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10"/>
                </a:solidFill>
              </a:rPr>
              <a:t>Future Directions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170078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Hotspot-weighted BVLS: upweight top 10% pixels to directly optimize competition 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15798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Ensemble: blend physics model (best MAE) with XGBoost (strong F1) predictions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61518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Learnable anisotropic kernels: jointly optimize σ_vertical, σ_horizontal during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07238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Transfer to 7nm/5nm: test feature generalization on FinFET PDN topologies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3593592"/>
            <a:ext cx="6016752" cy="262432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89320" y="3593592"/>
            <a:ext cx="6016752" cy="36576"/>
          </a:xfrm>
          <a:prstGeom prst="rect">
            <a:avLst/>
          </a:prstGeom>
          <a:solidFill>
            <a:srgbClr val="FFB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82880" y="6291072"/>
            <a:ext cx="11823192" cy="411480"/>
          </a:xfrm>
          <a:prstGeom prst="rect">
            <a:avLst/>
          </a:prstGeom>
          <a:solidFill>
            <a:srgbClr val="2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336792"/>
            <a:ext cx="11823192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 dirty="0">
                <a:solidFill>
                  <a:srgbClr val="FFB310"/>
                </a:solidFill>
              </a:rPr>
              <a:t>Code</a:t>
            </a:r>
            <a:r>
              <a:rPr lang="en-US" sz="1150" b="0" i="0" dirty="0">
                <a:solidFill>
                  <a:srgbClr val="FFB310"/>
                </a:solidFill>
              </a:rPr>
              <a:t>, model</a:t>
            </a:r>
            <a:r>
              <a:rPr sz="1150" b="0" i="0" dirty="0">
                <a:solidFill>
                  <a:srgbClr val="FFB310"/>
                </a:solidFill>
              </a:rPr>
              <a:t> &amp; </a:t>
            </a:r>
            <a:r>
              <a:rPr lang="en-US" sz="1150" b="0" i="0" dirty="0">
                <a:solidFill>
                  <a:srgbClr val="FFB310"/>
                </a:solidFill>
              </a:rPr>
              <a:t>more results</a:t>
            </a:r>
            <a:r>
              <a:rPr sz="1150" b="0" i="0" dirty="0">
                <a:solidFill>
                  <a:srgbClr val="FFB310"/>
                </a:solidFill>
              </a:rPr>
              <a:t>: </a:t>
            </a:r>
            <a:r>
              <a:rPr lang="en-US" sz="115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https://drive.google.com/drive/folders/1z4nS3i5l5Pf8utMlXPMeF-_OK-wm6Ivk?usp=sharing</a:t>
            </a:r>
            <a:r>
              <a:rPr lang="en-US" sz="1150" dirty="0">
                <a:solidFill>
                  <a:srgbClr val="FFC000"/>
                </a:solidFill>
              </a:rPr>
              <a:t>           </a:t>
            </a:r>
            <a:r>
              <a:rPr sz="1150" b="0" i="0" dirty="0">
                <a:solidFill>
                  <a:srgbClr val="FFB310"/>
                </a:solidFill>
              </a:rPr>
              <a:t>Contact: </a:t>
            </a:r>
            <a:r>
              <a:rPr lang="en-US" sz="1150" b="0" i="0" dirty="0">
                <a:solidFill>
                  <a:srgbClr val="FFB310"/>
                </a:solidFill>
              </a:rPr>
              <a:t>rolabiyi</a:t>
            </a:r>
            <a:r>
              <a:rPr sz="1150" b="0" i="0" dirty="0">
                <a:solidFill>
                  <a:srgbClr val="FFB310"/>
                </a:solidFill>
              </a:rPr>
              <a:t>@</a:t>
            </a:r>
            <a:r>
              <a:rPr lang="en-US" sz="1150" b="0" i="0" dirty="0">
                <a:solidFill>
                  <a:srgbClr val="FFB310"/>
                </a:solidFill>
              </a:rPr>
              <a:t>asu.edu</a:t>
            </a:r>
            <a:endParaRPr sz="1150" b="0" i="0" dirty="0">
              <a:solidFill>
                <a:srgbClr val="FFB31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75004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2136</TotalTime>
  <Words>4007</Words>
  <Application>Microsoft Office PowerPoint</Application>
  <PresentationFormat>Custom</PresentationFormat>
  <Paragraphs>517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Ridwan Olabiyi</cp:lastModifiedBy>
  <cp:revision>13</cp:revision>
  <dcterms:created xsi:type="dcterms:W3CDTF">2013-01-27T09:14:16Z</dcterms:created>
  <dcterms:modified xsi:type="dcterms:W3CDTF">2026-03-22T10:41:09Z</dcterms:modified>
  <cp:category/>
</cp:coreProperties>
</file>